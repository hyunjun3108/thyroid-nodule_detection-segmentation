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" y="2121408"/>
            <a:ext cx="1371600" cy="25603"/>
          </a:xfrm>
          <a:prstGeom prst="rect">
            <a:avLst/>
          </a:prstGeom>
          <a:solidFill>
            <a:srgbClr val="1A1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572768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석사학위논문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95728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36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갑상선 결절 초음파 영상의 경량 검출·분할 모델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추론 비용 없는 경계 정교화 모듈과 INT8 양자화를 중심으로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828032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YOLOv11-seg · Boundary Refinement · Post-Training Quantization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발표자  ○○○          지도교수  ○○○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2026. 09.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발표 순서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35024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847088"/>
            <a:ext cx="502920" cy="50292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92938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연구 배경 및 문제 정의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갑상선 초음파 판독에서 경계가 갖는 임상적 의미와 자동화의 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926080"/>
            <a:ext cx="502920" cy="50292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00837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07792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선행연구 및 연구가설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분할·경계정교화·경량화 세 계열의 정리와 그로부터 도출한 세 가설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4005072"/>
            <a:ext cx="502920" cy="50292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08736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86784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제안 방법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학습 시에만 동작하는 경계 분기(SegmentBRM)와 경계 가중 손실, 양자화 파이프라인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5084064"/>
            <a:ext cx="502920" cy="50292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16636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065776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실험 및 결과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5-fold 교차검증 · held-out 평가 · 통계 검정 · 정밀도별 경량화 비교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146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34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연구 배경 및 문제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4041648"/>
            <a:ext cx="1097280" cy="21945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279392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초음파 판독에서 경계가 갖는 의미와, 자동 분할이 아직 놓치고 있는 지점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01  연구 배경 및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초음파 판독에서 '경계'는 부수적 정보가 아니다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35024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TI-RADS: Thyroid Imaging Reporting and Data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5074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갑상선 결절은 성인 초음파 검사에서 흔하게 발견되며, 대부분은 양성이지만 악성 감별을 위해 매 검사마다 형태 평가가 필요하다.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ACR TI-RADS를 포함한 주요 판독 체계에서 결절의 경계(margin)는 구성·에코·형태와 나란히 놓이는 독립 채점 항목이다. 매끄러운 경계와 분엽상·불규칙 경계는 서로 다른 점수를 받고, 이 점수가 세침흡인 여부를 좌우한다.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따라서 자동 분할에 요구되는 것은 '영역이 대체로 맞는 것'이 아니라 '경계가 정확한 것'이다. 그러나 초음파 영상은 스페클 잡음·후방 음영·낮은 대조도로 경계 자체가 모호하고, 판독자 간 변이도 크다.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682496"/>
            <a:ext cx="5577840" cy="25603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10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46471"/>
            <a:ext cx="5577840" cy="2509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89320" y="4919472"/>
            <a:ext cx="5577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본 연구에 사용한 두 공개 데이터셋의 표본과 정답 경계(초록). 장비·화각·주석 방식이 서로 다르다는 점이 이후 교차 데이터셋 실험의 출발점이 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01  연구 배경 및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세 가지 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각 문제는 이후 Phase 2~4의 실험 설계에 그대로 대응된다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066544"/>
            <a:ext cx="3496970" cy="269748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066544"/>
            <a:ext cx="349697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59152"/>
            <a:ext cx="294833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P1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경계 품질이 지표에 가려진다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mAP·IoU는 영역 중심 지표라 몇 픽셀 폭의 경계 오차에 둔감하다. 경계가 실제로 나아졌는지 판정하려면 Boundary IoU·HD95 같은 경계 특화 지표가 함께 필요하다.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7362" y="2066544"/>
            <a:ext cx="3496970" cy="269748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7362" y="2066544"/>
            <a:ext cx="349697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1682" y="2359152"/>
            <a:ext cx="294833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P2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데이터셋이 서로 이질적이다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공개 데이터셋은 장비·화각·주석 스타일이 달라, 한 데이터셋에서 학습한 모델이 다른 데이터셋에서도 통할지 알 수 없다. 혼합 학습과 교차 데이터셋 검증이 필요하다.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2932" y="2066544"/>
            <a:ext cx="3496970" cy="2697480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2932" y="2066544"/>
            <a:ext cx="349697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7252" y="2359152"/>
            <a:ext cx="294833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P3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배포 환경에 GPU가 없다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검진 현장·휴대형 초음파에는 GPU가 없는 경우가 많다. 정확도를 지키면서 CPU 실시간 추론이 가능한 수준까지 모델을 줄여야 실제로 쓰인다.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010912"/>
            <a:ext cx="10948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→ 본 연구는 세 문제를 순차적으로 다룬다: 데이터 혼합·분할(P2) → 경계 정교화(P1) → 양자화 경량화(P3).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146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34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선행연구 및 연구가설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4041648"/>
            <a:ext cx="1097280" cy="21945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279392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분할·경계정교화·경량화 세 계열을 정리하고 검증 가능한 형태의 가설로 좁힌다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02  선행연구 및 연구가설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선행연구 정리와 연구 공백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35024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" y="1755648"/>
          <a:ext cx="10948109" cy="34299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7718"/>
                <a:gridCol w="4166095"/>
                <a:gridCol w="4844296"/>
              </a:tblGrid>
              <a:tr h="59527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계열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 연구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연구와의 관계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의료영상 분할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U-Net (Ronneberger et al., 2015) 및 파생 구조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정확도는 높으나 검출·분할 통합과 추론 비용은 주된 관심이 아님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갑상선 결절 특화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TRFE-Net · TN3K 데이터셋 (Gong et al., 2021·2023)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갑상선 영역 사전정보를 활용. 경량화·배포는 범위 밖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인스턴스 분할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YOLACT, YOLOv8-seg, YOLOv11-seg (Ultralytics)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프로토타입 마스크로 빠르지만 마스크 해상도가 낮아 경계가 거칠다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경계 정교화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PointRend (Kirillov et al., 2020), Boundary loss (Kervadec et al., 2019), HD loss (Karimi &amp; Salcudean, 2020)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시 추가 연산이 필요하거나 semantic segmentation을 전제로 함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경계 평가 지표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Boundary IoU (Cheng et al., 2021)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연구의 주 평가지표로 채택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21792" y="5276088"/>
            <a:ext cx="10948111" cy="749808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5276088"/>
            <a:ext cx="41148" cy="74980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5413248"/>
            <a:ext cx="103994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연구 공백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갑상선 초음파 인스턴스 분할에서, 추론 비용을 늘리지 않는 경계 정교화와 실제 배포를 위한 양자화를 하나의 파이프라인에서 함께 검증한 연구는 드물다.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02  선행연구 및 연구가설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연구가설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각 가설은 검증 방법과 기각 조건을 함께 정의했다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084832"/>
            <a:ext cx="10948111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084832"/>
            <a:ext cx="45720" cy="13167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4028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H1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모델 용량 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2" y="2267712"/>
            <a:ext cx="8778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YOLOv11-seg nano는 small 대비 파라미터가 1/3.5 수준임에도 갑상선 결절 검출·분할에서 동등한 정확도를 낸다.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검증  pooled 5-fold + held-out test에서 nano·small의 Mask mAP50-95 비교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566160"/>
            <a:ext cx="10948111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566160"/>
            <a:ext cx="45720" cy="13167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72160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H2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경계 정교화 가설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2" y="3749040"/>
            <a:ext cx="8778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학습 시에만 동작하는 보조 경계 분기와 경계 가중 손실은 추론 비용을 전혀 늘리지 않고 경계 품질을 개선한다.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검증  Boundary IoU·HD95·Dice의 대응표본 검정 + GFLOPs 동일성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5047488"/>
            <a:ext cx="10948111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5047488"/>
            <a:ext cx="45720" cy="13167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02936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H3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경량화 가설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0592" y="5230368"/>
            <a:ext cx="8778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INT8 사후 양자화로 CPU 배포 요건을 만족시키면서 정확도 손실은 무시할 수 있는 수준으로 유지된다.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검증  5개 정밀도(PyTorch·ONNX FP32/FP16/INT8·OpenVINO INT8) 정확도·지연 비교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146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34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제안 방법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4041648"/>
            <a:ext cx="1097280" cy="21945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279392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데이터 설계, 학습 전용 경계 분기(SegmentBRM), 경계 가중 손실, 그리고 양자화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03  제안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전체 연구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데이터 정비부터 배포 형식 선택까지를 하나의 흐름으로 설계했다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pic>
        <p:nvPicPr>
          <p:cNvPr id="7" name="Picture 6" descr="fig8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291" y="1901952"/>
            <a:ext cx="7373111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03  제안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사용한 두 공개 데이터셋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서로 다른 기관·장비에서 만들어진 데이터셋을 의도적으로 함께 사용했다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56816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TN3K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Gong et al., 2021 · 2023 공개</a:t>
            </a:r>
          </a:p>
        </p:txBody>
      </p:sp>
      <p:pic>
        <p:nvPicPr>
          <p:cNvPr id="8" name="Picture 7" descr="fig11_tn3k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641502"/>
            <a:ext cx="5303520" cy="11726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4005072"/>
            <a:ext cx="5303520" cy="10972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4169664"/>
            <a:ext cx="5303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규모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3,493장 · 결절 3,820개 (trainval 2,879 / test 614)</a:t>
            </a:r>
          </a:p>
          <a:p>
            <a:pPr algn="l">
              <a:lnSpc>
                <a:spcPct val="128000"/>
              </a:lnSpc>
              <a:spcBef>
                <a:spcPts val="900"/>
              </a:spcBef>
              <a:spcAft>
                <a:spcPts val="200"/>
              </a:spcAft>
            </a:pPr>
            <a:r>
              <a:rPr sz="1150" b="1" i="0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형식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JPG · 184×174 ~ 1463×826, 해상도가 2,443종으로 제각각</a:t>
            </a:r>
          </a:p>
          <a:p>
            <a:pPr algn="l">
              <a:lnSpc>
                <a:spcPct val="128000"/>
              </a:lnSpc>
              <a:spcBef>
                <a:spcPts val="900"/>
              </a:spcBef>
              <a:spcAft>
                <a:spcPts val="200"/>
              </a:spcAft>
            </a:pPr>
            <a:r>
              <a:rPr sz="1150" b="1" i="0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촬영 특성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병변 주변을 잘라낸 확대 영상. 측정 커서(캘리퍼)가 화면에 남아 있는 경우가 있다</a:t>
            </a:r>
          </a:p>
          <a:p>
            <a:pPr algn="l">
              <a:lnSpc>
                <a:spcPct val="128000"/>
              </a:lnSpc>
              <a:spcBef>
                <a:spcPts val="900"/>
              </a:spcBef>
              <a:spcAft>
                <a:spcPts val="200"/>
              </a:spcAft>
            </a:pPr>
            <a:r>
              <a:rPr sz="1150" b="1" i="0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결절 수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이미지당 평균 1.09개 — 7.8%의 영상에 결절이 2개 이상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56816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DDTI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Pedraza et al., 2015 · 콜롬비아 IDIME 영상센터</a:t>
            </a:r>
          </a:p>
        </p:txBody>
      </p:sp>
      <p:pic>
        <p:nvPicPr>
          <p:cNvPr id="12" name="Picture 11" descr="fig12_ddti_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644906"/>
            <a:ext cx="5303520" cy="11658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263640" y="4005072"/>
            <a:ext cx="5303520" cy="10972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169664"/>
            <a:ext cx="5303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규모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637장 · 결절 637개 (전량을 학습·검증에 사용)</a:t>
            </a:r>
          </a:p>
          <a:p>
            <a:pPr algn="l">
              <a:lnSpc>
                <a:spcPct val="128000"/>
              </a:lnSpc>
              <a:spcBef>
                <a:spcPts val="900"/>
              </a:spcBef>
              <a:spcAft>
                <a:spcPts val="200"/>
              </a:spcAft>
            </a:pPr>
            <a:r>
              <a:rPr sz="115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형식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PNG · 높이는 항상 360 px, 너비는 280·560·315·245의 4종</a:t>
            </a:r>
          </a:p>
          <a:p>
            <a:pPr algn="l">
              <a:lnSpc>
                <a:spcPct val="128000"/>
              </a:lnSpc>
              <a:spcBef>
                <a:spcPts val="900"/>
              </a:spcBef>
              <a:spcAft>
                <a:spcPts val="200"/>
              </a:spcAft>
            </a:pPr>
            <a:r>
              <a:rPr sz="115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촬영 특성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장비 화면을 그대로 캡처. 게인 막대·프로브 정보·좌우 표기가 함께 찍힌다</a:t>
            </a:r>
          </a:p>
          <a:p>
            <a:pPr algn="l">
              <a:lnSpc>
                <a:spcPct val="128000"/>
              </a:lnSpc>
              <a:spcBef>
                <a:spcPts val="900"/>
              </a:spcBef>
              <a:spcAft>
                <a:spcPts val="200"/>
              </a:spcAft>
            </a:pPr>
            <a:r>
              <a:rPr sz="115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결절 수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모든 영상이 정확히 1개 — 다중 결절 사례가 없다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03  제안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두 데이터셋의 정량적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이 격차가 교차 데이터셋(LODO) 실험을 설계한 이유이자, 그 결과를 해석하는 근거가 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pic>
        <p:nvPicPr>
          <p:cNvPr id="7" name="Picture 6" descr="fig13_dataset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883" y="1956816"/>
            <a:ext cx="9191927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4946904"/>
            <a:ext cx="335676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해상도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TN3K는 2,443종의 서로 다른 크기, DDTI는 4종 고정. 학습 시 640×640 레터박스로 통일되지만 원본 스케일 분포는 크게 다르다.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1162" y="4946904"/>
            <a:ext cx="335676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결절 크기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TN3K는 화면의 0.06%~43%까지 극단이 넓고, DDTI는 1.5%~24%에 몰려 있다. DDTI만 본 모델은 아주 작은 결절을 학습한 적이 없다.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532" y="4946904"/>
            <a:ext cx="335676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결절 개수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DDTI는 100%가 단일 결절이다. 다중 결절 장면을 한 번도 학습하지 못하므로, TN3K로 옮겨갈 때 놓치는 병변이 생긴다.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153912"/>
            <a:ext cx="10948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→ LODO에서 DDTI→TN3K 방향의 mAP가 0.307로 낮은 것은 모델의 결함이라기보다 학습 데이터가 대상 분포를 포함하지 못한 결과로 읽어야 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03  제안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전처리와 분할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테스트 집합은 전 실험에서 단 한 번도 학습에 사용하지 않았다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2048256"/>
          <a:ext cx="5852159" cy="19394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1092"/>
                <a:gridCol w="848139"/>
                <a:gridCol w="848139"/>
                <a:gridCol w="932953"/>
                <a:gridCol w="1441836"/>
              </a:tblGrid>
              <a:tr h="40325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장수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결절 수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TN3K (trainval)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TN3K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2,879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3,130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학습·검증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DDTI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DDTI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학습·검증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TN3K (test)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TN3K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690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평가 전용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4,130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4,457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" y="4242816"/>
            <a:ext cx="58521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전처리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두 데이터셋의 정답이 비트맵 마스크로 제공되어 YOLO-seg 폴리곤으로 변환했다. 임계값 127 이진화 → 모폴로지 open으로 잡음 제거 → 외곽 윤곽만 추출하는 절차를 두 데이터셋에 동일하게 적용했다.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변환 후 4,457개 폴리곤 전수를 원본 마스크와 겹쳐 그려 대조했고, 빈 라벨이나 마스크 누락이 한 건도 없음을 확인했다.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011680"/>
            <a:ext cx="4849063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분할 설계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3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Pooled 5-fold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TN3K trainval + DDTI 3,516장을 출처 계층화(source-stratified)로 5분할. 두 데이터셋의 비율이 각 fold에서 동일하게 유지된다. fold당 학습 2,812장 / 검증 704장.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3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Held-out test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TN3K test 614장. Phase 2~5의 공통 최종 평가 집합이며, 모델 선택에도 사용하지 않았다.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3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LODO (Leave-One-Dataset-Out)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TN3K→DDTI, DDTI→TN3K 양방향. 학습에 쓰지 않은 데이터셋에서 평가해 도메인 일반화를 직접 측정한다. 시드 42·43·44로 각 3회 반복했다.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03  제안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베이스라인 선정: nano인가 small인가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H1 검증 — 두 모델을 동일 조건으로 5-fold 학습 후 held-out에서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2066544"/>
          <a:ext cx="6766559" cy="24894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6403"/>
                <a:gridCol w="2075078"/>
                <a:gridCol w="2075078"/>
              </a:tblGrid>
              <a:tr h="43205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YOLOv11n-seg (nano)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YOLOv11s-seg (small)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Mask mAP50-95 (test)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0.6272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0.6239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Box mAP50-95 (test)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0.6216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0.6181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파라미터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2.84 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10.08 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GFLOPs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9.73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33.08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가중치 크기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6.00 MB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20.51 MB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2103120"/>
            <a:ext cx="3797503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정확도는 nano가 오히려 근소하게 앞선다. 파라미터 3.5배, 연산량 3.4배를 더 쓰고도 small이 얻는 것이 없다.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결절이 단일 클래스이고 형태 변이가 제한적이어서, small의 추가 용량이 이 과제에서는 활용되지 않은 것으로 해석된다.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→ 이후 모든 실험은 nano를 기준 모델로 진행한다. H1 지지.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03  제안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제안 구조: SegmentBRM 헤드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Proto 특징에서 갈라지는 보조 경계 분기를 두되, 추론 그래프에는 남기지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pic>
        <p:nvPicPr>
          <p:cNvPr id="7" name="Picture 6" descr="fig5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613" y="1901952"/>
            <a:ext cx="4888356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2157984"/>
            <a:ext cx="3934663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설계 원칙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기존 헤드를 대체하지 않고 확장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Detect·마스크 계수(cv4)·Proto 세 경로는 그대로 두고, Proto 출력에서 경계 분기만 추가로 갈라낸다.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분기는 최소 크기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Conv(32→16, 3×3) + Conv(16→1, 1×1), 총 4,657개 파라미터. 전체의 0.16%에 불과하다.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추론에서는 실행하지 않음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학습 시에만 4-튜플을 반환하고, 추론 모드에서는 분기 자체를 호출하지 않는다. 따라서 GFLOPs는 베이스라인과 정확히 같은 9.73이다.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03  제안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학습 경로와 추론 경로의 분리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경계 감독은 학습에만 개입하고, 배포되는 그래프는 베이스라인과 동일하다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pic>
        <p:nvPicPr>
          <p:cNvPr id="7" name="Picture 6" descr="fig6_dual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292" y="2020824"/>
            <a:ext cx="774511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5833872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이 분리 덕분에 '정확도 향상에는 대가가 따른다'는 통상적 절충을 피할 수 있다. 경계 분기가 학습 중 Proto 특징을 경계에 민감하도록 밀어주고, 그 효과는 가중치에 남은 채 분기만 제거된다.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03  제안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경계 가중 마스크 손실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정답 마스크의 형태학적 경계 밴드에 손실 가중치를 집중시킨다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pic>
        <p:nvPicPr>
          <p:cNvPr id="7" name="Picture 6" descr="fig7_boundary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284" y="1975104"/>
            <a:ext cx="7565126" cy="3063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5193792"/>
            <a:ext cx="33750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경계 밴드 추출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B = dilate(M) − erode(M). 3×3 max-pool 두 번으로 구현되어 GPU에서 추가 비용이 거의 없다.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1162" y="5193792"/>
            <a:ext cx="33750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가중 BCE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w = 1 + λ·B (λ=2.0). 경계 부근 픽셀의 오차가 내부 픽셀보다 3배 크게 반영된다.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532" y="5193792"/>
            <a:ext cx="33750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보조 경계 손실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경계 분기 출력과 정답 경계 사이의 BCE를 head_gain=1.0으로 더한다. 두 계수는 스윕으로 결정했다.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03  제안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경량화: 사후 양자화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재학습 없이 배포 형식만 바꿔 크기와 CPU 지연을 줄인다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48256"/>
            <a:ext cx="53949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ONNX FP32 / FP16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ultralytics export, opset 13, simplify 적용.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onnxruntime 정적 PTQ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QDQ 형식, per-channel, 가중치 INT8·활성값 UINT8. TN3K trainval에서 150장을 무작위 추출해 캘리브레이션.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OpenVINO INT8 (NNCF)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YOLO 구조를 인식해 민감 노드를 자동 제외하는 PTQ.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5077663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구현 과정에서 확인한 함정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검출 헤드를 양자화하면 모델이 붕괴한다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INT8화 시 분류 점수가 전부 0이 되었다. /model.23/ 이하 119개 노드를 양자화에서 제외해 해결했다.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per-channel QDQ는 opset 13 이상을 요구한다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opset 12에서는 InvalidGraph 오류로 로드되지 않는다.</a:t>
            </a:r>
          </a:p>
          <a:p>
            <a:pPr algn="l">
              <a:lnSpc>
                <a:spcPct val="128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OpenVINO 백엔드는 프로세스의 CUDA를 비활성화한다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평가 순서를 정밀도 단위로 재구성하고 OpenVINO를 마지막에 두어 회피했다.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5193792"/>
            <a:ext cx="10948111" cy="987552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5193792"/>
            <a:ext cx="41148" cy="98755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376672"/>
            <a:ext cx="1039947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세 함정 모두 조용히 실패한다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오류 메시지 없이 정확도만 0에 가깝게 떨어지거나 프로세스가 종료된다. 양자화 결과는 반드시 원본과 같은 평가 집합에서 정확도를 재측정해 확인해야 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146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34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실험 및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4041648"/>
            <a:ext cx="1097280" cy="21945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279392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경계 개선 · 정성 비교 · 통계 검정 · 정밀도별 경량화 · 통합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04  실험 및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실험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베이스라인과 제안 모델은 학습 하이퍼파라미터를 완전히 동일하게 두었다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2066544"/>
          <a:ext cx="10948110" cy="40485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9622"/>
                <a:gridCol w="8758488"/>
              </a:tblGrid>
              <a:tr h="528066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 epoch (patience 20), imgsz 640, batch 32, seed 42, deterministic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마스크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overlap_mask, mask_ratio 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집합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held-out TN3K test 614장 (전 Phase 공통)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설정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conf 0.25, IoU 0.7, retina_masks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 지표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Mask mAP50-95, Dice, Boundary IoU (d = 0.02 × 대각선), HD95 (대각선 대비 %)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효율 지표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파라미터, GFLOPs, 파일 크기, CPU·GPU 지연 (batch 1, 워밍업 15회 후 100회 평균)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하드웨어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NVIDIA A100 80GB × 3 (학습·GPU 지연), 동일 서버 CPU (CPU 지연)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04  실험 및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결과 ① 경계 정교화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held-out test, 5-fold 각각을 짝지어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pic>
        <p:nvPicPr>
          <p:cNvPr id="7" name="Picture 6" descr="fig1_boundary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264424"/>
            <a:ext cx="7315200" cy="33532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2440" y="2203704"/>
            <a:ext cx="3477463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Dice  +0.0104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0.8195 → 0.8300. 5개 fold 전부에서 개선.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HD95  −13.0%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9.628 → 8.378 (대각선 대비 %). 경계 최악 오차가 줄었다.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Boundary IoU  +0.0055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0.4358 → 0.4414.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mAP50-95  −0.0005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0.6272 → 0.6267. 검출 성능은 그대로 유지된다.</a:t>
            </a:r>
          </a:p>
          <a:p>
            <a:pPr algn="l">
              <a:lnSpc>
                <a:spcPct val="128000"/>
              </a:lnSpc>
              <a:spcBef>
                <a:spcPts val="600"/>
              </a:spcBef>
              <a:spcAft>
                <a:spcPts val="300"/>
              </a:spcAft>
            </a:pPr>
            <a:r>
              <a:rPr sz="1500" b="1" i="0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GFLOPs  ±0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9.73으로 완전히 동일. 추론 비용 증가가 없다.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04  실험 및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결과 ② 정성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개선 폭 분포의 분위수에서 뽑아 실패 사례까지 함께 제시한다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pic>
        <p:nvPicPr>
          <p:cNvPr id="7" name="Picture 6" descr="fig4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200" y="1901952"/>
            <a:ext cx="3391422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57800" y="2203704"/>
            <a:ext cx="6312103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표본 선택 방식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개선 폭이 큰 사례만 고르면 그림이 결론을 앞서간다. 그래서 Dice 개선 폭으로 정렬한 뒤 최상위·상위 4분위·중앙값·최하위에서 한 장씩 뽑았다.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읽는 법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왼쪽부터 정답 경계, 베이스라인 예측, 제안 모델 예측이다. 상단 세 행에서는 제안 모델의 윤곽이 정답에 더 밀착하고, 특히 결절 하단의 음영 구간에서 베이스라인이 새어 나가는 부분이 억제된다.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마지막 행은 제안 모델이 더 나빠진 사례다. 배경 조직을 결절로 잘못 포함해 Dice가 크게 떨어졌다. 경계 가중이 오히려 잘못된 경계를 강화할 수 있음을 보여주는 실패 유형으로, 후속 과제로 남긴다.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04  실험 및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결과 ③ 통계적 유의성과 교차 데이터셋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평균 비교를 넘어, 개선이 우연의 범위인지 검정했다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pic>
        <p:nvPicPr>
          <p:cNvPr id="7" name="Picture 6" descr="fig9_signific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13" y="2066544"/>
            <a:ext cx="10299469" cy="2880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5193792"/>
            <a:ext cx="337505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in-domain: 세 지표 모두 유의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이미지 단위 대응표본(n=614)에서 Dice p=0.014, Boundary IoU p=0.011, HD95 p=0.0045. 세 신뢰구간 모두 0을 포함하지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1162" y="5193792"/>
            <a:ext cx="337505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A78D6"/>
                </a:solidFill>
                <a:latin typeface="맑은 고딕"/>
                <a:ea typeface="맑은 고딕"/>
                <a:cs typeface="맑은 고딕"/>
              </a:rPr>
              <a:t>cross-domain: 판정 불가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시드를 3개(42·43·44)로 늘리자 차이가 크게 줄었고, 시드 단위 검정에서는 전 지표가 유의하지 않다(p = 0.51 ~ 1.00).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532" y="5193792"/>
            <a:ext cx="337505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단일 시드의 위험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시드 42만 보면 Dice −0.118로 '교차 도메인 파탄'처럼 보이나, 이는 해당 실행 하나의 이상치였다. 실행 간 변동이 효과보다 컸다.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04  실험 및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결과 ④ 정밀도별 경량화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5-fold 평균, held-out test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pic>
        <p:nvPicPr>
          <p:cNvPr id="7" name="Picture 6" descr="fig3_quant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574" y="1920240"/>
            <a:ext cx="6176546" cy="221284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4315968"/>
          <a:ext cx="10948110" cy="1770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5126"/>
                <a:gridCol w="1415704"/>
                <a:gridCol w="1415704"/>
                <a:gridCol w="1415704"/>
                <a:gridCol w="1604464"/>
                <a:gridCol w="1415704"/>
                <a:gridCol w="1415704"/>
              </a:tblGrid>
              <a:tr h="30723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정밀도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크기(MB)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CPU(ms)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GPU(ms)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mAP50-95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Dice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HD95%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PyTorch FP32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6.01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0.6266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0.8300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8.378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ONNX FP32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11.63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62.82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3.53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0.6188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0.8300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8.529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ONNX FP16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5.87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3.13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0.6194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0.8301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8.516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ONNX INT8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5.45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44.00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0.6032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0.8184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9.395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OpenVINO INT8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3.71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4.10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0.6161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0.8290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8.497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04  실험 및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결과 ⑤ 정확도와 효율의 절충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CPU 지연을 기준으로 본 배포 후보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pic>
        <p:nvPicPr>
          <p:cNvPr id="7" name="Picture 6" descr="fig2_accuracy_vs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26" y="1929384"/>
            <a:ext cx="5737491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2249424"/>
            <a:ext cx="4849063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OpenVINO INT8이 지배적 선택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CPU 지연 62.82 ms → 4.10 ms로 15.3배 빨라지고, 파일 크기는 3.71 MB로 가장 작다. 그러면서 Dice는 0.8290으로 원본(0.8300)과 사실상 같다.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같은 INT8이라도 onnxruntime 정적 PTQ는 44.00 ms에 그쳤다. 검출 헤드를 float으로 남겨야 했기 때문이며, NNCF가 민감 노드를 더 정교하게 선별한다는 점이 차이를 만들었다.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권장 배포 구성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CPU 환경 — OpenVINO INT8 (3.71 MB, 4.10 ms)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GPU 환경 — ONNX FP16 (5.87 MB, 3.13 ms, 무손실)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04  실험 및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Phase 2~4 통합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베이스라인에서 최종 배포 모델까지의 누적 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2112264"/>
          <a:ext cx="10948105" cy="27660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2936"/>
                <a:gridCol w="1168375"/>
                <a:gridCol w="995282"/>
                <a:gridCol w="995282"/>
                <a:gridCol w="995282"/>
                <a:gridCol w="1081829"/>
                <a:gridCol w="952009"/>
                <a:gridCol w="1038555"/>
                <a:gridCol w="1038555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mAP50-95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Dice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HD95%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BIoU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파라미터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GFLOPs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크기(MB)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5C5C5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CPU(ms)</a:t>
                      </a:r>
                    </a:p>
                  </a:txBody>
                  <a:tcPr marL="73152" marR="54864" marT="27432" marB="27432" anchor="ctr">
                    <a:solidFill>
                      <a:srgbClr val="F5F4F1"/>
                    </a:solidFill>
                    <a:lnB w="12700" cap="flat" cmpd="sng" algn="ctr">
                      <a:solidFill>
                        <a:srgbClr val="8E8E8B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베이스라인 nano (Phase 2)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0.6272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0.8195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9.628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0.4358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2.84 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9.73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경계 정교화 (Phase 3)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0.6267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0.8300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8.378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0.4414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2.85 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9.73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6.01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ONNX FP16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0.6194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0.8301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8.516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0.4403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5.87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ONNX INT8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0.6032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0.8184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9.395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0.4299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5.45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1A1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44.00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OpenVINO INT8 (최종)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0.6161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0.8290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8.497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0.4379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3.71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EB683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4.10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  <a:lnB w="9525" cap="flat" cmpd="sng" algn="ctr">
                      <a:solidFill>
                        <a:srgbClr val="E6E5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" y="5084064"/>
            <a:ext cx="1094811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경계 지표는 Phase 3에서 개선된 뒤 양자화를 거쳐도 유지된다. 최종 모델은 베이스라인 대비 Dice +0.0095, HD95 −11.7%를 유지하면서 파일 크기는 1/1.6, CPU 지연은 FP32 대비 1/15.3이다.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04  실험 및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한계와 향후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481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확인된 것과 확인되지 않은 것을 구분해 기술한다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29968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확인된 한계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359152"/>
            <a:ext cx="5212080" cy="12801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523744"/>
            <a:ext cx="5212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효과 크기는 작다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경계 개선의 대응표본 효과 크기는 dz ≈ 0.14로 작다. 통계적으로는 유의하지만 임상적으로 의미 있는 차이인지는 별도 검증이 필요하다.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400"/>
              </a:spcAft>
            </a:pPr>
            <a:r>
              <a:rPr sz="13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교차 데이터셋 일반화는 미확인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3시드 반복 결과 개선도 악화도 유의하지 않았다. '일반화된다'가 아니라 '현재 표본으로는 판정할 수 없다'가 정확한 서술이다.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400"/>
              </a:spcAft>
            </a:pPr>
            <a:r>
              <a:rPr sz="13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LODO 설정의 낙관적 편향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LODO에서 검증 집합과 평가 집합이 같은 타깃 도메인이므로, 두 모델 모두 타깃에서 체크포인트를 선택했다. 비교는 공정하나 절대값은 낙관적이다.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2029968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향후 과제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2359152"/>
            <a:ext cx="5212080" cy="12801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2523744"/>
            <a:ext cx="5212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실패 유형 분석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정성 비교의 최악 사례처럼 배경 조직을 결절로 포함하는 오검출을 억제하는 후처리 또는 손실 설계.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400"/>
              </a:spcAft>
            </a:pPr>
            <a:r>
              <a:rPr sz="13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도메인 적응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장비·주석 스타일 차이를 흡수하는 스타일 정규화나 도메인 적대 학습을 결합해 교차 데이터셋 성능을 다시 검증.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spcAft>
                <a:spcPts val="400"/>
              </a:spcAft>
            </a:pPr>
            <a:r>
              <a:rPr sz="13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엣지 디바이스 실측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Jetson·라즈베리파이 등 실제 배포 후보 장비에서 지연·전력을 측정. 현재 CPU 지연은 서버 CPU 기준값이다.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20624"/>
            <a:ext cx="1094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48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35024"/>
            <a:ext cx="10948111" cy="10058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9743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E8E8B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55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19072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경량 백본에서 출발해도 손해가 없다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nano는 small 대비 파라미터 1/3.5, 연산량 1/3.4임에도 정확도가 근소하게 앞섰다. 갑상선 결절이라는 단일 클래스 과제에서 큰 모델의 추가 용량은 활용되지 않았다.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81635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79776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경계 정교화를 추론 비용 없이 얻을 수 있다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학습 전용 경계 분기와 경계 가중 손실로 Dice +0.0104, HD95 −13.0%를 얻으면서 GFLOPs는 9.73으로 동일하다. 세 지표 모두 통계적으로 유의하다.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77056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8404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CPU 배포는 실용 범위에 들어왔다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OpenVINO INT8로 3.71 MB · CPU 4.10 ms를 달성했고 정확도 손실은 Dice 0.001 수준이다. GPU 없는 환경에서도 실시간 추론이 가능하다.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93776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B683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901184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일반화 주장은 유보한다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교차 데이터셋에서는 개선이 유지되지 않았고, 시드 반복 결과 악화 또한 유의하지 않았다. 단일 실행 결과로 결론을 내리지 않은 점을 성과로 본다.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8346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3400" b="1" i="0">
                <a:solidFill>
                  <a:srgbClr val="1A1A19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C5A"/>
                </a:solidFill>
                <a:latin typeface="맑은 고딕"/>
                <a:ea typeface="맑은 고딕"/>
                <a:cs typeface="맑은 고딕"/>
              </a:rPr>
              <a:t>질의응답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4041648"/>
            <a:ext cx="1097280" cy="21945"/>
          </a:xfrm>
          <a:prstGeom prst="rect">
            <a:avLst/>
          </a:prstGeom>
          <a:solidFill>
            <a:srgbClr val="D8D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갑상선 결절 초음파 영상의 경량 검출·분할 모델</dc:title>
  <dc:subject>추론 비용 없는 경계 정교화 모듈과 INT8 양자화를 중심으로</dc:subject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